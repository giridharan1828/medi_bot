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8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4" r:id="rId5"/>
    <p:sldId id="266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6858000" cy="9144000"/>
  <p:embeddedFontLst>
    <p:embeddedFont>
      <p:font typeface="Montserrat Bold" panose="020B0604020202020204" charset="0"/>
      <p:regular r:id="rId13"/>
      <p:bold r:id="rId14"/>
    </p:embeddedFont>
    <p:embeddedFont>
      <p:font typeface="Playfair Display Bold" panose="020B060402020202020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57102F-43BD-B36D-5265-7AA713B9A697}" name="RAHUL M" initials="R2" userId="S::rahul.m2025a@vitstudent.ac.in::654a89b8-b5fb-4148-bb2f-9bc41721b9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22" autoAdjust="0"/>
  </p:normalViewPr>
  <p:slideViewPr>
    <p:cSldViewPr>
      <p:cViewPr varScale="1">
        <p:scale>
          <a:sx n="52" d="100"/>
          <a:sy n="52" d="100"/>
        </p:scale>
        <p:origin x="98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D0CB55-B32F-4731-AFCA-ADCEC65738C3}" authorId="{9957102F-43BD-B36D-5265-7AA713B9A697}" created="2026-03-08T18:24:58.586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SG"/>
          <a:t>Go to File-&gt;Create a copy-&gt;Download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microsoft.com/office/2018/10/relationships/comments" Target="../comments/modernComment_108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4" name="Group 4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844108" y="4376608"/>
            <a:ext cx="19976215" cy="1800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88"/>
              </a:lnSpc>
            </a:pPr>
            <a:r>
              <a:rPr lang="en-US" sz="1358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SmartMed 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" y="7408001"/>
            <a:ext cx="168402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Team name: BACK PROPAGANDA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2817978" y="3162300"/>
            <a:ext cx="12652043" cy="561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“</a:t>
            </a:r>
            <a:r>
              <a:rPr lang="en-US" sz="7300" b="1" u="sng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TEAM MEMBERS</a:t>
            </a: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”</a:t>
            </a:r>
          </a:p>
          <a:p>
            <a:pPr algn="ctr">
              <a:lnSpc>
                <a:spcPts val="7300"/>
              </a:lnSpc>
            </a:pPr>
            <a:endParaRPr lang="en-US" sz="7300" b="1" dirty="0">
              <a:gradFill>
                <a:gsLst>
                  <a:gs pos="0">
                    <a:srgbClr val="0D5B2E">
                      <a:alpha val="100000"/>
                    </a:srgbClr>
                  </a:gs>
                  <a:gs pos="100000">
                    <a:srgbClr val="B8F4EB">
                      <a:alpha val="100000"/>
                    </a:srgbClr>
                  </a:gs>
                </a:gsLst>
                <a:lin ang="5400000"/>
              </a:gra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1371600" indent="-1371600">
              <a:lnSpc>
                <a:spcPts val="7300"/>
              </a:lnSpc>
              <a:buFont typeface="+mj-lt"/>
              <a:buAutoNum type="arabicPeriod"/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Deepak Raj S</a:t>
            </a:r>
          </a:p>
          <a:p>
            <a:pPr marL="1371600" indent="-1371600">
              <a:lnSpc>
                <a:spcPts val="7300"/>
              </a:lnSpc>
              <a:buFont typeface="+mj-lt"/>
              <a:buAutoNum type="arabicPeriod"/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Divya Dharshan D</a:t>
            </a:r>
          </a:p>
          <a:p>
            <a:pPr marL="1371600" indent="-1371600">
              <a:lnSpc>
                <a:spcPts val="7300"/>
              </a:lnSpc>
              <a:buFont typeface="+mj-lt"/>
              <a:buAutoNum type="arabicPeriod"/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Giridharan</a:t>
            </a:r>
          </a:p>
          <a:p>
            <a:pPr marL="1371600" indent="-1371600">
              <a:lnSpc>
                <a:spcPts val="7300"/>
              </a:lnSpc>
              <a:buFont typeface="+mj-lt"/>
              <a:buAutoNum type="arabicPeriod"/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8F4EB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Akshayaa Elangovan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4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 dirty="0"/>
          </a:p>
        </p:txBody>
      </p:sp>
      <p:sp>
        <p:nvSpPr>
          <p:cNvPr id="3" name="TextBox 3"/>
          <p:cNvSpPr txBox="1"/>
          <p:nvPr/>
        </p:nvSpPr>
        <p:spPr>
          <a:xfrm>
            <a:off x="22123" y="2694370"/>
            <a:ext cx="12596178" cy="96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726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PROBLEM STATEMENT: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5664453-47B5-5F82-890E-6A934339353E}"/>
              </a:ext>
            </a:extLst>
          </p:cNvPr>
          <p:cNvSpPr txBox="1"/>
          <p:nvPr/>
        </p:nvSpPr>
        <p:spPr>
          <a:xfrm>
            <a:off x="670800" y="4415156"/>
            <a:ext cx="1592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Traditional hospital information systems rely on static FAQ bots that fail to resolve complex, multi-fact queries, such as linking doctor availability with specific insurance coverage. This leads to overwhelmed front-desk staff, outdated information on public platforms, and significant friction for patients attempting to navigate hospital services. There is a critical need for an intelligent, context-aware agent that can reason across multiple data domains in real-time while maintaining an automated, up-to-date knowledge base.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48" y="-224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-1905000" y="2139340"/>
            <a:ext cx="12175271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68"/>
              </a:lnSpc>
            </a:pP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Proposed</a:t>
            </a:r>
            <a:r>
              <a:rPr lang="en-US" sz="7268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4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Solution:</a:t>
            </a:r>
            <a:endParaRPr lang="en-US" sz="7268" b="1" dirty="0">
              <a:gradFill>
                <a:gsLst>
                  <a:gs pos="0">
                    <a:srgbClr val="0D5B2E">
                      <a:alpha val="100000"/>
                    </a:srgbClr>
                  </a:gs>
                  <a:gs pos="100000">
                    <a:srgbClr val="BAFFF5">
                      <a:alpha val="100000"/>
                    </a:srgbClr>
                  </a:gs>
                </a:gsLst>
                <a:lin ang="5400000"/>
              </a:gra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FDBA462-EC1C-E3C4-4771-C28C191E3ECA}"/>
              </a:ext>
            </a:extLst>
          </p:cNvPr>
          <p:cNvSpPr txBox="1"/>
          <p:nvPr/>
        </p:nvSpPr>
        <p:spPr>
          <a:xfrm>
            <a:off x="762000" y="3027762"/>
            <a:ext cx="1286294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 Reasoning-Based Intelligence(Contextual RAG): Uses Retrieval-Augmented Generation to answer multi-part questions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Multi-Domain Reasoning Capable of processing simultaneous constraints in a single response, such as linking a doctor's specific availability with an insurer's coverage rules.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Knowledge Graph Architecture employing a structured data design to map relationships between hospital departments, doctor specialties, and insurance partners.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Automated Refresh Detecting stale data and triggers webhooks to pull live updates from the hospital's management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Identifies complex or private queries (like billing) that a bot shouldn't handle and collects patient details and creates a </a:t>
            </a:r>
            <a:r>
              <a:rPr lang="en-US" sz="3200" b="1" dirty="0">
                <a:solidFill>
                  <a:schemeClr val="bg1"/>
                </a:solidFill>
              </a:rPr>
              <a:t>callback request ticket</a:t>
            </a:r>
            <a:r>
              <a:rPr lang="en-US" sz="3200" dirty="0">
                <a:solidFill>
                  <a:schemeClr val="bg1"/>
                </a:solidFill>
              </a:rPr>
              <a:t> for the relevant department</a:t>
            </a:r>
            <a:endParaRPr lang="en-IN" sz="32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62676B-005B-FF04-D30F-D356B9CF22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7900" y="3848100"/>
            <a:ext cx="39814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Proactive Journey Management:Guides the patient from initial search through appointment booking instead of just answering questions.Automated WhatsApp Prep-Kits:Instantly sends parking details and fasting instructions to the patient’s phone after booking.Zero-Friction UI:Replaces the confusing blank chat interface with proactive action buttons that guide patients on what to do next</a:t>
            </a:r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-1" y="2427358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INNOVATION           USP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47106EC-2FCB-D0C0-C6F2-A02ED7FCB8FE}"/>
              </a:ext>
            </a:extLst>
          </p:cNvPr>
          <p:cNvSpPr txBox="1"/>
          <p:nvPr/>
        </p:nvSpPr>
        <p:spPr>
          <a:xfrm>
            <a:off x="762000" y="3572782"/>
            <a:ext cx="662940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bg1"/>
                </a:solidFill>
              </a:rPr>
              <a:t>The Innovation (Our Technical Edge)Graph-RAG Architecture:</a:t>
            </a:r>
          </a:p>
          <a:p>
            <a:r>
              <a:rPr lang="en-IN" sz="3000" dirty="0">
                <a:solidFill>
                  <a:schemeClr val="bg1"/>
                </a:solidFill>
              </a:rPr>
              <a:t>	Maps relational data (Doctor → Parking → Preparation) instead of searching flat, disconnected FAQs.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bg1"/>
                </a:solidFill>
              </a:rPr>
              <a:t>Localized NLP Engine:</a:t>
            </a:r>
          </a:p>
          <a:p>
            <a:r>
              <a:rPr lang="en-IN" sz="3000" dirty="0">
                <a:solidFill>
                  <a:schemeClr val="bg1"/>
                </a:solidFill>
              </a:rPr>
              <a:t>	Processes fuzzy inputs and typos instantly without the high cost and latency of constant LLM API calls.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bg1"/>
                </a:solidFill>
              </a:rPr>
              <a:t>Self-Healing Data Sync:</a:t>
            </a:r>
          </a:p>
          <a:p>
            <a:r>
              <a:rPr lang="en-IN" sz="3000" dirty="0">
                <a:solidFill>
                  <a:schemeClr val="bg1"/>
                </a:solidFill>
              </a:rPr>
              <a:t>	Simulated webhooks continuously verify data integrity so information never becomes outdated.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110DD7-0A2D-230F-261A-4F072260B794}"/>
              </a:ext>
            </a:extLst>
          </p:cNvPr>
          <p:cNvSpPr txBox="1"/>
          <p:nvPr/>
        </p:nvSpPr>
        <p:spPr>
          <a:xfrm>
            <a:off x="9296400" y="3505813"/>
            <a:ext cx="8229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bg1"/>
                </a:solidFill>
              </a:rPr>
              <a:t>Proactive Journey Management:</a:t>
            </a:r>
          </a:p>
          <a:p>
            <a:r>
              <a:rPr lang="en-IN" sz="3000" dirty="0">
                <a:solidFill>
                  <a:schemeClr val="bg1"/>
                </a:solidFill>
              </a:rPr>
              <a:t>	Guides the patient from initial search through appointment booking instead of just answering questions.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bg1"/>
                </a:solidFill>
              </a:rPr>
              <a:t>Automated WhatsApp Prep-Kits:</a:t>
            </a:r>
          </a:p>
          <a:p>
            <a:r>
              <a:rPr lang="en-IN" sz="3000" dirty="0">
                <a:solidFill>
                  <a:schemeClr val="bg1"/>
                </a:solidFill>
              </a:rPr>
              <a:t>	Instantly sends parking details and fasting instructions to the patient’s phone after booking.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chemeClr val="bg1"/>
                </a:solidFill>
              </a:rPr>
              <a:t>Zero-Friction UI:</a:t>
            </a:r>
          </a:p>
          <a:p>
            <a:r>
              <a:rPr lang="en-IN" sz="3000" dirty="0">
                <a:solidFill>
                  <a:schemeClr val="bg1"/>
                </a:solidFill>
              </a:rPr>
              <a:t>	Replaces the confusing blank chat interface with proactive action buttons that guide patients on what to do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23" y="-1843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51620" y="1963619"/>
            <a:ext cx="12652043" cy="828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0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WORKFLOW DIAGRAM WITH TECH STACK: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7D4E91A-CBB1-C3A9-5EA7-660236752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53" y="2957754"/>
            <a:ext cx="17103324" cy="6910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-2514600" y="2476500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FEASABILITY: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4B930AD6-1CB5-2EE9-1414-184BB58A9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475069"/>
            <a:ext cx="1066800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Robust Architecture: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Combines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RAG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for conversational flexibility and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Knowledge Graphs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for multi-fact reasoning—ensuring high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API-First Design: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Operates as a middleware layer; integrates with existing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HMS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via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webhooks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without replacing legacy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Safety-First Logic: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Employs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Human-in-the-Loop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design; automatically routes private or medical queries to staff to mitigate clinical liability.</a:t>
            </a:r>
            <a:endParaRPr lang="en-US" altLang="en-US" sz="3000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Scalable Framework: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Modular structure supports rapid expansion across new departments, channels (voice/chat), and data sources.</a:t>
            </a: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691D43AB-F66D-04F0-DBCD-A9F17999EF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83194" y="36334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204243-C436-F52A-3D63-B130E05615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63671" y="3412654"/>
            <a:ext cx="5972406" cy="56932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-3124200" y="2476500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0D5B2E">
                        <a:alpha val="100000"/>
                      </a:srgbClr>
                    </a:gs>
                    <a:gs pos="100000">
                      <a:srgbClr val="BAFFF5">
                        <a:alpha val="100000"/>
                      </a:srgbClr>
                    </a:gs>
                  </a:gsLst>
                  <a:lin ang="54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NOVELTY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2753" y="636360"/>
            <a:ext cx="17103324" cy="1479628"/>
            <a:chOff x="0" y="0"/>
            <a:chExt cx="22804433" cy="1972837"/>
          </a:xfrm>
        </p:grpSpPr>
        <p:grpSp>
          <p:nvGrpSpPr>
            <p:cNvPr id="5" name="Group 5"/>
            <p:cNvGrpSpPr/>
            <p:nvPr/>
          </p:nvGrpSpPr>
          <p:grpSpPr>
            <a:xfrm>
              <a:off x="14170825" y="0"/>
              <a:ext cx="8633608" cy="1747411"/>
              <a:chOff x="0" y="0"/>
              <a:chExt cx="979436" cy="1982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79436" cy="198234"/>
              </a:xfrm>
              <a:custGeom>
                <a:avLst/>
                <a:gdLst/>
                <a:ahLst/>
                <a:cxnLst/>
                <a:rect l="l" t="t" r="r" b="b"/>
                <a:pathLst>
                  <a:path w="979436" h="198234">
                    <a:moveTo>
                      <a:pt x="88476" y="0"/>
                    </a:moveTo>
                    <a:lnTo>
                      <a:pt x="890959" y="0"/>
                    </a:lnTo>
                    <a:cubicBezTo>
                      <a:pt x="939824" y="0"/>
                      <a:pt x="979436" y="39612"/>
                      <a:pt x="979436" y="88476"/>
                    </a:cubicBezTo>
                    <a:lnTo>
                      <a:pt x="979436" y="109758"/>
                    </a:lnTo>
                    <a:cubicBezTo>
                      <a:pt x="979436" y="133223"/>
                      <a:pt x="970114" y="155728"/>
                      <a:pt x="953522" y="172320"/>
                    </a:cubicBezTo>
                    <a:cubicBezTo>
                      <a:pt x="936929" y="188913"/>
                      <a:pt x="914425" y="198234"/>
                      <a:pt x="890959" y="198234"/>
                    </a:cubicBezTo>
                    <a:lnTo>
                      <a:pt x="88476" y="198234"/>
                    </a:lnTo>
                    <a:cubicBezTo>
                      <a:pt x="39612" y="198234"/>
                      <a:pt x="0" y="158622"/>
                      <a:pt x="0" y="109758"/>
                    </a:cubicBezTo>
                    <a:lnTo>
                      <a:pt x="0" y="88476"/>
                    </a:lnTo>
                    <a:cubicBezTo>
                      <a:pt x="0" y="39612"/>
                      <a:pt x="39612" y="0"/>
                      <a:pt x="884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34000"/>
                    </a:srgbClr>
                  </a:gs>
                  <a:gs pos="100000">
                    <a:srgbClr val="00BF63">
                      <a:alpha val="34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979436" cy="245859"/>
              </a:xfrm>
              <a:prstGeom prst="rect">
                <a:avLst/>
              </a:prstGeom>
            </p:spPr>
            <p:txBody>
              <a:bodyPr lIns="56452" tIns="56452" rIns="56452" bIns="56452" rtlCol="0" anchor="ctr"/>
              <a:lstStyle/>
              <a:p>
                <a:pPr algn="ctr">
                  <a:lnSpc>
                    <a:spcPts val="344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8542125" y="1128773"/>
              <a:ext cx="1391797" cy="405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7"/>
                </a:lnSpc>
              </a:pPr>
              <a:r>
                <a:rPr lang="en-US" sz="181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8487629" y="213128"/>
              <a:ext cx="1446293" cy="953744"/>
            </a:xfrm>
            <a:custGeom>
              <a:avLst/>
              <a:gdLst/>
              <a:ahLst/>
              <a:cxnLst/>
              <a:rect l="l" t="t" r="r" b="b"/>
              <a:pathLst>
                <a:path w="1446293" h="953744">
                  <a:moveTo>
                    <a:pt x="0" y="0"/>
                  </a:moveTo>
                  <a:lnTo>
                    <a:pt x="1446293" y="0"/>
                  </a:lnTo>
                  <a:lnTo>
                    <a:pt x="1446293" y="953745"/>
                  </a:lnTo>
                  <a:lnTo>
                    <a:pt x="0" y="95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0167830" y="331442"/>
              <a:ext cx="1084526" cy="108452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300917" y="286116"/>
              <a:ext cx="2952803" cy="1011539"/>
            </a:xfrm>
            <a:custGeom>
              <a:avLst/>
              <a:gdLst/>
              <a:ahLst/>
              <a:cxnLst/>
              <a:rect l="l" t="t" r="r" b="b"/>
              <a:pathLst>
                <a:path w="2952803" h="1011539">
                  <a:moveTo>
                    <a:pt x="0" y="0"/>
                  </a:moveTo>
                  <a:lnTo>
                    <a:pt x="2952803" y="0"/>
                  </a:lnTo>
                  <a:lnTo>
                    <a:pt x="2952803" y="1011539"/>
                  </a:lnTo>
                  <a:lnTo>
                    <a:pt x="0" y="1011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-40049" r="-7054" b="-3862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273132" cy="1972837"/>
            </a:xfrm>
            <a:custGeom>
              <a:avLst/>
              <a:gdLst/>
              <a:ahLst/>
              <a:cxnLst/>
              <a:rect l="l" t="t" r="r" b="b"/>
              <a:pathLst>
                <a:path w="7273132" h="1972837">
                  <a:moveTo>
                    <a:pt x="0" y="0"/>
                  </a:moveTo>
                  <a:lnTo>
                    <a:pt x="7273132" y="0"/>
                  </a:lnTo>
                  <a:lnTo>
                    <a:pt x="7273132" y="1972837"/>
                  </a:lnTo>
                  <a:lnTo>
                    <a:pt x="0" y="197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E0704A0A-C59F-0CB7-F2D0-254EF0541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250" y="3726567"/>
            <a:ext cx="1693995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Graph-Based Reasoning: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Moves beyond keyword matching to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multi-hop logic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linking doctors, procedures, and insurance in a single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Active Learning Loop: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Automatically logs "unanswered queries" to build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Knowledge Gap Map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ensuring the system learns and improves weekly.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Proactive Engagement: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Shifts from passive to proactive by auto-sending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personalized checklists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(fasting, docs, parking) before appointments.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Clinical Integrity: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Implements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Hybrid Concierge Model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—AI handles info retrieval, while all sensitive billing/medical queries are routed to humans to eliminate hallucinations.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4c6c18-4ad7-4e7f-8c7d-cff3ba25f78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5B8DAE0642B942BB833EAABF75097C" ma:contentTypeVersion="9" ma:contentTypeDescription="Create a new document." ma:contentTypeScope="" ma:versionID="7eee752413ace48018808fe7e448a0ec">
  <xsd:schema xmlns:xsd="http://www.w3.org/2001/XMLSchema" xmlns:xs="http://www.w3.org/2001/XMLSchema" xmlns:p="http://schemas.microsoft.com/office/2006/metadata/properties" xmlns:ns3="d34c6c18-4ad7-4e7f-8c7d-cff3ba25f783" targetNamespace="http://schemas.microsoft.com/office/2006/metadata/properties" ma:root="true" ma:fieldsID="1a5e1a1fae4a9f5524bee5798ac7a775" ns3:_="">
    <xsd:import namespace="d34c6c18-4ad7-4e7f-8c7d-cff3ba25f78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c6c18-4ad7-4e7f-8c7d-cff3ba25f78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2B98B8-3D4F-4714-8DBA-0D8F614EE67F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d34c6c18-4ad7-4e7f-8c7d-cff3ba25f78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3185E2-E753-47F3-9D69-7177EDDA11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031D1B-FF95-48F7-95A3-798E6FB22B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4c6c18-4ad7-4e7f-8c7d-cff3ba25f7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601</Words>
  <Application>Microsoft Office PowerPoint</Application>
  <PresentationFormat>Custom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Playfair Display Bold</vt:lpstr>
      <vt:lpstr>Wingdings</vt:lpstr>
      <vt:lpstr>Montserrat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GLITCHCON 2.0</dc:title>
  <cp:lastModifiedBy>Akshayaa Elangovan</cp:lastModifiedBy>
  <cp:revision>7</cp:revision>
  <dcterms:created xsi:type="dcterms:W3CDTF">2006-08-16T00:00:00Z</dcterms:created>
  <dcterms:modified xsi:type="dcterms:W3CDTF">2026-03-09T09:21:46Z</dcterms:modified>
  <dc:identifier>DAG7o8SITjs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0x010100265B8DAE0642B942BB833EAABF75097C</vt:lpwstr>
  </property>
</Properties>
</file>